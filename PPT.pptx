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Title" id="{14e43630-1486-959b-3a91-5cb2152ac12a}">
          <p14:sldIdLst>
            <p14:sldId id="256"/>
          </p14:sldIdLst>
        </p14:section>
        <p14:section name="Idea" id="{88feda47-9805-cbec-4482-e09d8f1fc35e}">
          <p14:sldIdLst>
            <p14:sldId id="257"/>
          </p14:sldIdLst>
        </p14:section>
        <p14:section name="Technical" id="{46adacc7-7af0-d187-6e55-4f1b592c94dc}">
          <p14:sldIdLst>
            <p14:sldId id="258"/>
          </p14:sldIdLst>
        </p14:section>
        <p14:section name="Feasibility" id="{f055528a-5a2b-af5b-8815-7c7945622314}">
          <p14:sldIdLst>
            <p14:sldId id="259"/>
          </p14:sldIdLst>
        </p14:section>
        <p14:section name="Impact" id="{be094a57-b651-1895-875b-8376db6b4022}">
          <p14:sldIdLst>
            <p14:sldId id="260"/>
          </p14:sldIdLst>
        </p14:section>
        <p14:section name="Research" id="{15a09f64-7d9d-ba50-af1d-24de2991a78d}">
          <p14:sldIdLst>
            <p14:sldId id="26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image" Target="../media/TITLE_SLIDE-image-2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image" Target="../media/CONTENT2-image-2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4-1.png"/><Relationship Id="rId2" Type="http://schemas.openxmlformats.org/officeDocument/2006/relationships/image" Target="../media/CONTENT3-image-2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5-1.png"/><Relationship Id="rId2" Type="http://schemas.openxmlformats.org/officeDocument/2006/relationships/image" Target="../media/CONTENT4-image-2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6-1.png"/><Relationship Id="rId2" Type="http://schemas.openxmlformats.org/officeDocument/2006/relationships/image" Target="../media/CONTENT5-image-2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7-1.png"/><Relationship Id="rId2" Type="http://schemas.openxmlformats.org/officeDocument/2006/relationships/image" Target="../media/CONTENT6-image-2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ih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530352"/>
            <a:ext cx="2414016" cy="113934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64739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8D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@SIH Idea submission  |  SentinelSIF  |  Team Visual Vaults  (ID 162044)</a:t>
            </a:r>
            <a:endParaRPr lang="en-US" sz="1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ih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92640" y="301752"/>
            <a:ext cx="1965960" cy="92811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45720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 VAULTS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502920" y="749808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ID 162044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548640" y="64739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8D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@SIH Idea submission  |  SentinelSIF  |  Team Visual Vaults  (ID 162044)</a:t>
            </a:r>
            <a:endParaRPr lang="en-US" sz="1000" dirty="0"/>
          </a:p>
        </p:txBody>
      </p:sp>
      <p:sp>
        <p:nvSpPr>
          <p:cNvPr id="6" name="Text 3"/>
          <p:cNvSpPr/>
          <p:nvPr>
            <p:ph idx="104" type="title" hasCustomPrompt="1"/>
          </p:nvPr>
        </p:nvSpPr>
        <p:spPr>
          <a:xfrm>
            <a:off x="2560320" y="347472"/>
            <a:ext cx="694944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FF7A1A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3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ih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92640" y="301752"/>
            <a:ext cx="1965960" cy="92811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45720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 VAULTS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502920" y="749808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ID 162044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548640" y="64739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8D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@SIH Idea submission  |  SentinelSIF  |  Team Visual Vaults  (ID 162044)</a:t>
            </a:r>
            <a:endParaRPr lang="en-US" sz="1000" dirty="0"/>
          </a:p>
        </p:txBody>
      </p:sp>
      <p:sp>
        <p:nvSpPr>
          <p:cNvPr id="6" name="Text 3"/>
          <p:cNvSpPr/>
          <p:nvPr>
            <p:ph idx="104" type="title" hasCustomPrompt="1"/>
          </p:nvPr>
        </p:nvSpPr>
        <p:spPr>
          <a:xfrm>
            <a:off x="2560320" y="347472"/>
            <a:ext cx="694944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FF7A1A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4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ih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92640" y="301752"/>
            <a:ext cx="1965960" cy="92811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45720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 VAULTS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502920" y="749808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ID 162044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548640" y="64739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8D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@SIH Idea submission  |  SentinelSIF  |  Team Visual Vaults  (ID 162044)</a:t>
            </a:r>
            <a:endParaRPr lang="en-US" sz="1000" dirty="0"/>
          </a:p>
        </p:txBody>
      </p:sp>
      <p:sp>
        <p:nvSpPr>
          <p:cNvPr id="6" name="Text 3"/>
          <p:cNvSpPr/>
          <p:nvPr>
            <p:ph idx="104" type="title" hasCustomPrompt="1"/>
          </p:nvPr>
        </p:nvSpPr>
        <p:spPr>
          <a:xfrm>
            <a:off x="2560320" y="347472"/>
            <a:ext cx="694944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FF7A1A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5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ih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92640" y="301752"/>
            <a:ext cx="1965960" cy="92811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45720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 VAULTS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502920" y="749808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ID 162044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548640" y="64739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8D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@SIH Idea submission  |  SentinelSIF  |  Team Visual Vaults  (ID 162044)</a:t>
            </a:r>
            <a:endParaRPr lang="en-US" sz="1000" dirty="0"/>
          </a:p>
        </p:txBody>
      </p:sp>
      <p:sp>
        <p:nvSpPr>
          <p:cNvPr id="6" name="Text 3"/>
          <p:cNvSpPr/>
          <p:nvPr>
            <p:ph idx="104" type="title" hasCustomPrompt="1"/>
          </p:nvPr>
        </p:nvSpPr>
        <p:spPr>
          <a:xfrm>
            <a:off x="2560320" y="347472"/>
            <a:ext cx="694944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FF7A1A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1006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6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ih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92640" y="301752"/>
            <a:ext cx="1965960" cy="92811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45720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 VAULTS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502920" y="749808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ID 162044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548640" y="64739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8D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@SIH Idea submission  |  SentinelSIF  |  Team Visual Vaults  (ID 162044)</a:t>
            </a:r>
            <a:endParaRPr lang="en-US" sz="1000" dirty="0"/>
          </a:p>
        </p:txBody>
      </p:sp>
      <p:sp>
        <p:nvSpPr>
          <p:cNvPr id="6" name="Text 3"/>
          <p:cNvSpPr/>
          <p:nvPr>
            <p:ph idx="104" type="title" hasCustomPrompt="1"/>
          </p:nvPr>
        </p:nvSpPr>
        <p:spPr>
          <a:xfrm>
            <a:off x="2560320" y="347472"/>
            <a:ext cx="694944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FF7A1A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1007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FF7A1A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5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6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7.xml"/><Relationship Id="rId6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92024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B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INDIA HACKATHON 2026  •  IDEA SUBMISSION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194560"/>
            <a:ext cx="6949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SentinelSIF</a:t>
            </a:r>
            <a:endParaRPr lang="en-US" sz="6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273552"/>
            <a:ext cx="6583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Bridging the SIF Paradox: Autonomous Hydrocarbon Precursor Detection &amp; Thermodynamic Blast Defense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4023360"/>
            <a:ext cx="3383280" cy="512064"/>
          </a:xfrm>
          <a:prstGeom prst="roundRect">
            <a:avLst>
              <a:gd name="adj" fmla="val 25000"/>
            </a:avLst>
          </a:prstGeom>
          <a:solidFill>
            <a:srgbClr val="14354E">
              <a:alpha val="90000"/>
            </a:srgbClr>
          </a:solidFill>
          <a:ln w="12700">
            <a:solidFill>
              <a:srgbClr val="1A7791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713232" y="4023360"/>
            <a:ext cx="3108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FFB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ID</a:t>
            </a:r>
            <a:endParaRPr lang="en-US" sz="1000" dirty="0"/>
          </a:p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SIH26165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069080" y="4023360"/>
            <a:ext cx="3383280" cy="512064"/>
          </a:xfrm>
          <a:prstGeom prst="roundRect">
            <a:avLst>
              <a:gd name="adj" fmla="val 25000"/>
            </a:avLst>
          </a:prstGeom>
          <a:solidFill>
            <a:srgbClr val="332830">
              <a:alpha val="90000"/>
            </a:srgbClr>
          </a:solidFill>
          <a:ln w="12700">
            <a:solidFill>
              <a:srgbClr val="894B27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4233672" y="4023360"/>
            <a:ext cx="3108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FFB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 CATEGORY</a:t>
            </a:r>
            <a:endParaRPr lang="en-US" sz="1000" dirty="0"/>
          </a:p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(IoT &amp; SCADA)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48640" y="4617720"/>
            <a:ext cx="3383280" cy="512064"/>
          </a:xfrm>
          <a:prstGeom prst="roundRect">
            <a:avLst>
              <a:gd name="adj" fmla="val 25000"/>
            </a:avLst>
          </a:prstGeom>
          <a:solidFill>
            <a:srgbClr val="252B50">
              <a:alpha val="90000"/>
            </a:srgbClr>
          </a:solidFill>
          <a:ln w="12700">
            <a:solidFill>
              <a:srgbClr val="57549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713232" y="4617720"/>
            <a:ext cx="3108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FFB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ID</a:t>
            </a:r>
            <a:endParaRPr lang="en-US" sz="1000" dirty="0"/>
          </a:p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162044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069080" y="4617720"/>
            <a:ext cx="3383280" cy="512064"/>
          </a:xfrm>
          <a:prstGeom prst="roundRect">
            <a:avLst>
              <a:gd name="adj" fmla="val 25000"/>
            </a:avLst>
          </a:prstGeom>
          <a:solidFill>
            <a:srgbClr val="332746">
              <a:alpha val="90000"/>
            </a:srgbClr>
          </a:solidFill>
          <a:ln w="12700">
            <a:solidFill>
              <a:srgbClr val="894575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4233672" y="4617720"/>
            <a:ext cx="3108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FFB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NAME</a:t>
            </a:r>
            <a:endParaRPr lang="en-US" sz="1000" dirty="0"/>
          </a:p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Vaults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48640" y="5212080"/>
            <a:ext cx="6903720" cy="512064"/>
          </a:xfrm>
          <a:prstGeom prst="roundRect">
            <a:avLst>
              <a:gd name="adj" fmla="val 25000"/>
            </a:avLst>
          </a:prstGeom>
          <a:solidFill>
            <a:srgbClr val="333031">
              <a:alpha val="90000"/>
            </a:srgbClr>
          </a:solidFill>
          <a:ln w="12700">
            <a:solidFill>
              <a:srgbClr val="89662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713232" y="5212080"/>
            <a:ext cx="6629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FFB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TITLE</a:t>
            </a:r>
            <a:endParaRPr lang="en-US" sz="1000" dirty="0"/>
          </a:p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SIF Precursor Prevention &amp; Decision Intelligence Platform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48640" y="5806440"/>
            <a:ext cx="6903720" cy="512064"/>
          </a:xfrm>
          <a:prstGeom prst="roundRect">
            <a:avLst>
              <a:gd name="adj" fmla="val 25000"/>
            </a:avLst>
          </a:prstGeom>
          <a:solidFill>
            <a:srgbClr val="16353E">
              <a:alpha val="90000"/>
            </a:srgbClr>
          </a:solidFill>
          <a:ln w="12700">
            <a:solidFill>
              <a:srgbClr val="207857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713232" y="5806440"/>
            <a:ext cx="6629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FFB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</a:t>
            </a:r>
            <a:endParaRPr lang="en-US" sz="1000" dirty="0"/>
          </a:p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Automation / Disaster Management / Clean &amp; Green Energy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8549640" y="3154680"/>
            <a:ext cx="1188720" cy="1046074"/>
          </a:xfrm>
          <a:prstGeom prst="hexagon">
            <a:avLst/>
          </a:prstGeom>
          <a:solidFill>
            <a:srgbClr val="FF7A1A">
              <a:alpha val="65000"/>
            </a:srgbClr>
          </a:solidFill>
          <a:ln w="19050">
            <a:solidFill>
              <a:srgbClr val="FF7A1A"/>
            </a:solidFill>
            <a:prstDash val="solid"/>
          </a:ln>
        </p:spPr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15400" y="3520440"/>
            <a:ext cx="457200" cy="457200"/>
          </a:xfrm>
          <a:prstGeom prst="rect">
            <a:avLst/>
          </a:prstGeom>
        </p:spPr>
      </p:pic>
      <p:sp>
        <p:nvSpPr>
          <p:cNvPr id="19" name="Shape 16"/>
          <p:cNvSpPr/>
          <p:nvPr/>
        </p:nvSpPr>
        <p:spPr>
          <a:xfrm>
            <a:off x="7818120" y="1417320"/>
            <a:ext cx="3017520" cy="384048"/>
          </a:xfrm>
          <a:prstGeom prst="roundRect">
            <a:avLst>
              <a:gd name="adj" fmla="val 50000"/>
            </a:avLst>
          </a:prstGeom>
          <a:solidFill>
            <a:srgbClr val="080C1A">
              <a:alpha val="95000"/>
            </a:srgbClr>
          </a:solidFill>
          <a:ln w="19050">
            <a:solidFill>
              <a:srgbClr val="FF4D5E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7818120" y="1417320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4D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 kPa LETHAL BLAST SPHERE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9052560" y="2011680"/>
            <a:ext cx="2697480" cy="384048"/>
          </a:xfrm>
          <a:prstGeom prst="roundRect">
            <a:avLst>
              <a:gd name="adj" fmla="val 50000"/>
            </a:avLst>
          </a:prstGeom>
          <a:solidFill>
            <a:srgbClr val="080C1A">
              <a:alpha val="95000"/>
            </a:srgbClr>
          </a:solidFill>
          <a:ln w="19050">
            <a:solidFill>
              <a:srgbClr val="2ED47A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9052560" y="2011680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D4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DGMS OMR 2019 RULE 43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7589520" y="5212080"/>
            <a:ext cx="3291840" cy="384048"/>
          </a:xfrm>
          <a:prstGeom prst="roundRect">
            <a:avLst>
              <a:gd name="adj" fmla="val 50000"/>
            </a:avLst>
          </a:prstGeom>
          <a:solidFill>
            <a:srgbClr val="080C1A">
              <a:alpha val="95000"/>
            </a:srgbClr>
          </a:solidFill>
          <a:ln w="19050">
            <a:solidFill>
              <a:srgbClr val="FFB020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7589520" y="5212080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B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MACH 1.25 BLAST PHYSICS ENGINE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8732520" y="5760720"/>
            <a:ext cx="2743200" cy="384048"/>
          </a:xfrm>
          <a:prstGeom prst="roundRect">
            <a:avLst>
              <a:gd name="adj" fmla="val 50000"/>
            </a:avLst>
          </a:prstGeom>
          <a:solidFill>
            <a:srgbClr val="080C1A">
              <a:alpha val="95000"/>
            </a:srgbClr>
          </a:solidFill>
          <a:ln w="19050">
            <a:solidFill>
              <a:srgbClr val="22D3EE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8732520" y="576072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WEBGL 3D DIGITAL TWIN</a:t>
            </a:r>
            <a:endParaRPr lang="en-US" sz="1100" dirty="0"/>
          </a:p>
        </p:txBody>
      </p:sp>
      <p:sp>
        <p:nvSpPr>
          <p:cNvPr id="27" name="Text 24"/>
          <p:cNvSpPr txBox="1"/>
          <p:nvPr/>
        </p:nvSpPr>
        <p:spPr>
          <a:xfrm>
            <a:off x="8321040" y="269748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FFB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ZONE 0</a:t>
            </a:r>
            <a:endParaRPr lang="en-US" sz="1000" dirty="0"/>
          </a:p>
        </p:txBody>
      </p:sp>
      <p:sp>
        <p:nvSpPr>
          <p:cNvPr id="28" name="Text 25"/>
          <p:cNvSpPr txBox="1"/>
          <p:nvPr/>
        </p:nvSpPr>
        <p:spPr>
          <a:xfrm>
            <a:off x="8321040" y="461772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FFB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ZONE 1</a:t>
            </a:r>
            <a:endParaRPr lang="en-US" sz="1000" dirty="0"/>
          </a:p>
        </p:txBody>
      </p:sp>
      <p:sp>
        <p:nvSpPr>
          <p:cNvPr id="29" name="Text 26"/>
          <p:cNvSpPr txBox="1"/>
          <p:nvPr/>
        </p:nvSpPr>
        <p:spPr>
          <a:xfrm>
            <a:off x="11247120" y="374904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F7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ZONE 2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4" type="title" hasCustomPrompt="1"/>
          </p:nvPr>
        </p:nvSpPr>
        <p:spPr>
          <a:xfrm>
            <a:off x="2560320" y="347472"/>
            <a:ext cx="6949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IDEA TITLE &amp; SOLUTION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417320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4D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PROBLEM: THE SIF PARADOX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783080"/>
            <a:ext cx="4023360" cy="960120"/>
          </a:xfrm>
          <a:prstGeom prst="roundRect">
            <a:avLst>
              <a:gd name="adj" fmla="val 13333"/>
            </a:avLst>
          </a:prstGeom>
          <a:solidFill>
            <a:srgbClr val="33223A">
              <a:alpha val="92000"/>
            </a:srgbClr>
          </a:solidFill>
          <a:ln w="12700">
            <a:solidFill>
              <a:srgbClr val="893449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594360" y="1783080"/>
            <a:ext cx="1325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4D5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80%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1920240" y="1783080"/>
            <a:ext cx="2423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fatalities stem from high-energy precursors, not minor slips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2852928"/>
            <a:ext cx="4023360" cy="960120"/>
          </a:xfrm>
          <a:prstGeom prst="roundRect">
            <a:avLst>
              <a:gd name="adj" fmla="val 13333"/>
            </a:avLst>
          </a:prstGeom>
          <a:solidFill>
            <a:srgbClr val="33223A">
              <a:alpha val="92000"/>
            </a:srgbClr>
          </a:solidFill>
          <a:ln w="12700">
            <a:solidFill>
              <a:srgbClr val="893449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594360" y="2852928"/>
            <a:ext cx="1325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4D5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72 h</a:t>
            </a:r>
            <a:endParaRPr lang="en-US" sz="3000" dirty="0"/>
          </a:p>
        </p:txBody>
      </p:sp>
      <p:sp>
        <p:nvSpPr>
          <p:cNvPr id="9" name="Text 7"/>
          <p:cNvSpPr txBox="1"/>
          <p:nvPr/>
        </p:nvSpPr>
        <p:spPr>
          <a:xfrm>
            <a:off x="1920240" y="2852928"/>
            <a:ext cx="2423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near-miss paperwork lag while micro-leaks climb toward LEL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3922776"/>
            <a:ext cx="4023360" cy="960120"/>
          </a:xfrm>
          <a:prstGeom prst="roundRect">
            <a:avLst>
              <a:gd name="adj" fmla="val 13333"/>
            </a:avLst>
          </a:prstGeom>
          <a:solidFill>
            <a:srgbClr val="33223A">
              <a:alpha val="92000"/>
            </a:srgbClr>
          </a:solidFill>
          <a:ln w="12700">
            <a:solidFill>
              <a:srgbClr val="893449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594360" y="3922776"/>
            <a:ext cx="1325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4D5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</a:t>
            </a:r>
            <a:endParaRPr lang="en-US" sz="3000" dirty="0"/>
          </a:p>
        </p:txBody>
      </p:sp>
      <p:sp>
        <p:nvSpPr>
          <p:cNvPr id="12" name="Text 10"/>
          <p:cNvSpPr txBox="1"/>
          <p:nvPr/>
        </p:nvSpPr>
        <p:spPr>
          <a:xfrm>
            <a:off x="1920240" y="3922776"/>
            <a:ext cx="2423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physics context: a stair trip equals a pump seal bypass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754880" y="1417320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SOLUTION: SENTINELSIF ENGINE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754880" y="1783080"/>
            <a:ext cx="3429000" cy="1554480"/>
          </a:xfrm>
          <a:prstGeom prst="roundRect">
            <a:avLst>
              <a:gd name="adj" fmla="val 8235"/>
            </a:avLst>
          </a:prstGeom>
          <a:solidFill>
            <a:srgbClr val="14354E">
              <a:alpha val="92000"/>
            </a:srgbClr>
          </a:solidFill>
          <a:ln w="12700">
            <a:solidFill>
              <a:srgbClr val="1A7791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919472" y="1920240"/>
            <a:ext cx="475488" cy="475488"/>
          </a:xfrm>
          <a:prstGeom prst="ellipse">
            <a:avLst/>
          </a:prstGeom>
          <a:solidFill>
            <a:srgbClr val="22D3EE">
              <a:alpha val="15000"/>
            </a:srgbClr>
          </a:solidFill>
          <a:ln w="15875">
            <a:solidFill>
              <a:srgbClr val="22D3EE"/>
            </a:solidFill>
            <a:prstDash val="solid"/>
          </a:ln>
        </p:spPr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38344" y="2039112"/>
            <a:ext cx="237744" cy="237744"/>
          </a:xfrm>
          <a:prstGeom prst="rect">
            <a:avLst/>
          </a:prstGeom>
        </p:spPr>
      </p:pic>
      <p:sp>
        <p:nvSpPr>
          <p:cNvPr id="17" name="Text 14"/>
          <p:cNvSpPr txBox="1"/>
          <p:nvPr/>
        </p:nvSpPr>
        <p:spPr>
          <a:xfrm>
            <a:off x="5504688" y="1920240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5-Stage Multimodal Swarm</a:t>
            </a:r>
            <a:endParaRPr lang="en-US" sz="1500" dirty="0"/>
          </a:p>
        </p:txBody>
      </p:sp>
      <p:sp>
        <p:nvSpPr>
          <p:cNvPr id="18" name="Text 15"/>
          <p:cNvSpPr txBox="1"/>
          <p:nvPr/>
        </p:nvSpPr>
        <p:spPr>
          <a:xfrm>
            <a:off x="4937760" y="2514600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9B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Parses audio, field text &amp; thermal scans in under 1.2 s to extract chemicals and barrier failures.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8321040" y="1783080"/>
            <a:ext cx="3429000" cy="1554480"/>
          </a:xfrm>
          <a:prstGeom prst="roundRect">
            <a:avLst>
              <a:gd name="adj" fmla="val 8235"/>
            </a:avLst>
          </a:prstGeom>
          <a:solidFill>
            <a:srgbClr val="332830">
              <a:alpha val="92000"/>
            </a:srgbClr>
          </a:solidFill>
          <a:ln w="12700">
            <a:solidFill>
              <a:srgbClr val="894B27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8485632" y="1920240"/>
            <a:ext cx="475488" cy="475488"/>
          </a:xfrm>
          <a:prstGeom prst="ellipse">
            <a:avLst/>
          </a:prstGeom>
          <a:solidFill>
            <a:srgbClr val="FF7A1A">
              <a:alpha val="15000"/>
            </a:srgbClr>
          </a:solidFill>
          <a:ln w="15875">
            <a:solidFill>
              <a:srgbClr val="FF7A1A"/>
            </a:solidFill>
            <a:prstDash val="solid"/>
          </a:ln>
        </p:spPr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04504" y="2039112"/>
            <a:ext cx="237744" cy="237744"/>
          </a:xfrm>
          <a:prstGeom prst="rect">
            <a:avLst/>
          </a:prstGeom>
        </p:spPr>
      </p:pic>
      <p:sp>
        <p:nvSpPr>
          <p:cNvPr id="22" name="Text 18"/>
          <p:cNvSpPr txBox="1"/>
          <p:nvPr/>
        </p:nvSpPr>
        <p:spPr>
          <a:xfrm>
            <a:off x="9070848" y="1920240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Thermodynamic Blast Scaling</a:t>
            </a:r>
            <a:endParaRPr lang="en-US" sz="1500" dirty="0"/>
          </a:p>
        </p:txBody>
      </p:sp>
      <p:sp>
        <p:nvSpPr>
          <p:cNvPr id="23" name="Text 19"/>
          <p:cNvSpPr txBox="1"/>
          <p:nvPr/>
        </p:nvSpPr>
        <p:spPr>
          <a:xfrm>
            <a:off x="8503920" y="2514600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9B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Hopkinson-Cranz overpressure, TNT equivalence &amp; lethal blast radii.</a:t>
            </a:r>
            <a:endParaRPr lang="en-US" sz="1400" dirty="0"/>
          </a:p>
        </p:txBody>
      </p:sp>
      <p:sp>
        <p:nvSpPr>
          <p:cNvPr id="24" name="Shape 20"/>
          <p:cNvSpPr/>
          <p:nvPr/>
        </p:nvSpPr>
        <p:spPr>
          <a:xfrm>
            <a:off x="4754880" y="3474720"/>
            <a:ext cx="3429000" cy="1554480"/>
          </a:xfrm>
          <a:prstGeom prst="roundRect">
            <a:avLst>
              <a:gd name="adj" fmla="val 8235"/>
            </a:avLst>
          </a:prstGeom>
          <a:solidFill>
            <a:srgbClr val="16353E">
              <a:alpha val="92000"/>
            </a:srgbClr>
          </a:solidFill>
          <a:ln w="12700">
            <a:solidFill>
              <a:srgbClr val="207857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5" name="Shape 21"/>
          <p:cNvSpPr/>
          <p:nvPr/>
        </p:nvSpPr>
        <p:spPr>
          <a:xfrm>
            <a:off x="4919472" y="3611880"/>
            <a:ext cx="475488" cy="475488"/>
          </a:xfrm>
          <a:prstGeom prst="ellipse">
            <a:avLst/>
          </a:prstGeom>
          <a:solidFill>
            <a:srgbClr val="2ED47A">
              <a:alpha val="15000"/>
            </a:srgbClr>
          </a:solidFill>
          <a:ln w="15875">
            <a:solidFill>
              <a:srgbClr val="2ED47A"/>
            </a:solidFill>
            <a:prstDash val="solid"/>
          </a:ln>
        </p:spPr>
      </p:sp>
      <p:pic>
        <p:nvPicPr>
          <p:cNvPr id="2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38344" y="3730752"/>
            <a:ext cx="237744" cy="237744"/>
          </a:xfrm>
          <a:prstGeom prst="rect">
            <a:avLst/>
          </a:prstGeom>
        </p:spPr>
      </p:pic>
      <p:sp>
        <p:nvSpPr>
          <p:cNvPr id="27" name="Text 22"/>
          <p:cNvSpPr txBox="1"/>
          <p:nvPr/>
        </p:nvSpPr>
        <p:spPr>
          <a:xfrm>
            <a:off x="5504688" y="3611880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Interactive 3D Digital Twin</a:t>
            </a:r>
            <a:endParaRPr lang="en-US" sz="1500" dirty="0"/>
          </a:p>
        </p:txBody>
      </p:sp>
      <p:sp>
        <p:nvSpPr>
          <p:cNvPr id="28" name="Text 23"/>
          <p:cNvSpPr txBox="1"/>
          <p:nvPr/>
        </p:nvSpPr>
        <p:spPr>
          <a:xfrm>
            <a:off x="4937760" y="4206240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9B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WebGL twin shows 100 kPa mortality spheres and Zone 0/1/2 boundaries.</a:t>
            </a:r>
            <a:endParaRPr lang="en-US" sz="1400" dirty="0"/>
          </a:p>
        </p:txBody>
      </p:sp>
      <p:sp>
        <p:nvSpPr>
          <p:cNvPr id="29" name="Shape 24"/>
          <p:cNvSpPr/>
          <p:nvPr/>
        </p:nvSpPr>
        <p:spPr>
          <a:xfrm>
            <a:off x="8321040" y="3474720"/>
            <a:ext cx="3429000" cy="1554480"/>
          </a:xfrm>
          <a:prstGeom prst="roundRect">
            <a:avLst>
              <a:gd name="adj" fmla="val 8235"/>
            </a:avLst>
          </a:prstGeom>
          <a:solidFill>
            <a:srgbClr val="333031">
              <a:alpha val="92000"/>
            </a:srgbClr>
          </a:solidFill>
          <a:ln w="12700">
            <a:solidFill>
              <a:srgbClr val="89662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30" name="Shape 25"/>
          <p:cNvSpPr/>
          <p:nvPr/>
        </p:nvSpPr>
        <p:spPr>
          <a:xfrm>
            <a:off x="8485632" y="3611880"/>
            <a:ext cx="475488" cy="475488"/>
          </a:xfrm>
          <a:prstGeom prst="ellipse">
            <a:avLst/>
          </a:prstGeom>
          <a:solidFill>
            <a:srgbClr val="FFB020">
              <a:alpha val="15000"/>
            </a:srgbClr>
          </a:solidFill>
          <a:ln w="15875">
            <a:solidFill>
              <a:srgbClr val="FFB020"/>
            </a:solidFill>
            <a:prstDash val="solid"/>
          </a:ln>
        </p:spPr>
      </p:sp>
      <p:pic>
        <p:nvPicPr>
          <p:cNvPr id="3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04504" y="3730752"/>
            <a:ext cx="237744" cy="237744"/>
          </a:xfrm>
          <a:prstGeom prst="rect">
            <a:avLst/>
          </a:prstGeom>
        </p:spPr>
      </p:pic>
      <p:sp>
        <p:nvSpPr>
          <p:cNvPr id="32" name="Text 26"/>
          <p:cNvSpPr txBox="1"/>
          <p:nvPr/>
        </p:nvSpPr>
        <p:spPr>
          <a:xfrm>
            <a:off x="9070848" y="3611880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DGMS Rule 43 Action Gateway</a:t>
            </a:r>
            <a:endParaRPr lang="en-US" sz="1500" dirty="0"/>
          </a:p>
        </p:txBody>
      </p:sp>
      <p:sp>
        <p:nvSpPr>
          <p:cNvPr id="33" name="Text 27"/>
          <p:cNvSpPr txBox="1"/>
          <p:nvPr/>
        </p:nvSpPr>
        <p:spPr>
          <a:xfrm>
            <a:off x="8503920" y="4206240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9B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Instant, binding Stop-Work orders sent to the Concerned Safety Official.</a:t>
            </a:r>
            <a:endParaRPr lang="en-US" sz="1400" dirty="0"/>
          </a:p>
        </p:txBody>
      </p:sp>
      <p:sp>
        <p:nvSpPr>
          <p:cNvPr id="34" name="Shape 28"/>
          <p:cNvSpPr/>
          <p:nvPr/>
        </p:nvSpPr>
        <p:spPr>
          <a:xfrm>
            <a:off x="457200" y="5257800"/>
            <a:ext cx="11274552" cy="1051560"/>
          </a:xfrm>
          <a:prstGeom prst="roundRect">
            <a:avLst>
              <a:gd name="adj" fmla="val 12174"/>
            </a:avLst>
          </a:prstGeom>
          <a:solidFill>
            <a:srgbClr val="2A1A12"/>
          </a:solidFill>
          <a:ln w="12700">
            <a:solidFill>
              <a:srgbClr val="7A4A1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35" name="Shape 29"/>
          <p:cNvSpPr/>
          <p:nvPr/>
        </p:nvSpPr>
        <p:spPr>
          <a:xfrm>
            <a:off x="685800" y="5458968"/>
            <a:ext cx="685800" cy="603504"/>
          </a:xfrm>
          <a:prstGeom prst="hexagon">
            <a:avLst/>
          </a:prstGeom>
          <a:solidFill>
            <a:srgbClr val="FFB020">
              <a:alpha val="30000"/>
            </a:srgbClr>
          </a:solidFill>
          <a:ln w="19050">
            <a:solidFill>
              <a:srgbClr val="FFB020"/>
            </a:solidFill>
            <a:prstDash val="solid"/>
          </a:ln>
        </p:spPr>
      </p:sp>
      <p:pic>
        <p:nvPicPr>
          <p:cNvPr id="3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5256" y="5669280"/>
            <a:ext cx="256032" cy="256032"/>
          </a:xfrm>
          <a:prstGeom prst="rect">
            <a:avLst/>
          </a:prstGeom>
        </p:spPr>
      </p:pic>
      <p:sp>
        <p:nvSpPr>
          <p:cNvPr id="37" name="Text 30"/>
          <p:cNvSpPr txBox="1"/>
          <p:nvPr/>
        </p:nvSpPr>
        <p:spPr>
          <a:xfrm>
            <a:off x="1645920" y="537667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B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INNOVATION &amp; UNIQUENESS</a:t>
            </a:r>
            <a:endParaRPr lang="en-US" sz="1200" dirty="0"/>
          </a:p>
        </p:txBody>
      </p:sp>
      <p:sp>
        <p:nvSpPr>
          <p:cNvPr id="38" name="Text 31"/>
          <p:cNvSpPr txBox="1"/>
          <p:nvPr/>
        </p:nvSpPr>
        <p:spPr>
          <a:xfrm>
            <a:off x="1645920" y="5641848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passive reporting portal: SentinelSIF fuses Generative AI with first-principles chemical physics to compute real destructive potential, then triggers statutory action before containment is breached.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FF7A1A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4" type="title" hasCustomPrompt="1"/>
          </p:nvPr>
        </p:nvSpPr>
        <p:spPr>
          <a:xfrm>
            <a:off x="2560320" y="347472"/>
            <a:ext cx="6949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TECHNICAL APPROACH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1805940" y="1719072"/>
            <a:ext cx="8577072" cy="0"/>
          </a:xfrm>
          <a:prstGeom prst="line">
            <a:avLst/>
          </a:prstGeom>
          <a:noFill/>
          <a:ln w="25400">
            <a:solidFill>
              <a:srgbClr val="2A3A66"/>
            </a:solidFill>
            <a:prstDash val="dash"/>
            <a:tailEnd type="triangle"/>
          </a:ln>
        </p:spPr>
      </p:sp>
      <p:sp>
        <p:nvSpPr>
          <p:cNvPr id="4" name="Shape 2"/>
          <p:cNvSpPr/>
          <p:nvPr/>
        </p:nvSpPr>
        <p:spPr>
          <a:xfrm>
            <a:off x="1458468" y="1371600"/>
            <a:ext cx="694944" cy="611551"/>
          </a:xfrm>
          <a:prstGeom prst="hexagon">
            <a:avLst/>
          </a:prstGeom>
          <a:solidFill>
            <a:srgbClr val="22D3EE">
              <a:alpha val="65000"/>
            </a:srgbClr>
          </a:solidFill>
          <a:ln w="19050">
            <a:solidFill>
              <a:srgbClr val="22D3E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458468" y="1371600"/>
            <a:ext cx="694944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457200" y="2194560"/>
            <a:ext cx="2697480" cy="3017520"/>
          </a:xfrm>
          <a:prstGeom prst="roundRect">
            <a:avLst>
              <a:gd name="adj" fmla="val 4746"/>
            </a:avLst>
          </a:prstGeom>
          <a:solidFill>
            <a:srgbClr val="14354E">
              <a:alpha val="92000"/>
            </a:srgbClr>
          </a:solidFill>
          <a:ln w="12700">
            <a:solidFill>
              <a:srgbClr val="1A7791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2359152"/>
            <a:ext cx="365760" cy="36576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115568" y="2359152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INGESTION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640080" y="2880360"/>
            <a:ext cx="233172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memos, field text &amp; operator forms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SCADA / Modbus, OPC-UA telemetry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FLIR thermal &amp; camera feeds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4317492" y="1371600"/>
            <a:ext cx="694944" cy="611551"/>
          </a:xfrm>
          <a:prstGeom prst="hexagon">
            <a:avLst/>
          </a:prstGeom>
          <a:solidFill>
            <a:srgbClr val="9B8CFF">
              <a:alpha val="65000"/>
            </a:srgbClr>
          </a:solidFill>
          <a:ln w="19050">
            <a:solidFill>
              <a:srgbClr val="9B8CFF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317492" y="1371600"/>
            <a:ext cx="694944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700" dirty="0"/>
          </a:p>
        </p:txBody>
      </p:sp>
      <p:sp>
        <p:nvSpPr>
          <p:cNvPr id="12" name="Shape 9"/>
          <p:cNvSpPr/>
          <p:nvPr/>
        </p:nvSpPr>
        <p:spPr>
          <a:xfrm>
            <a:off x="3316224" y="2194560"/>
            <a:ext cx="2697480" cy="3017520"/>
          </a:xfrm>
          <a:prstGeom prst="roundRect">
            <a:avLst>
              <a:gd name="adj" fmla="val 4746"/>
            </a:avLst>
          </a:prstGeom>
          <a:solidFill>
            <a:srgbClr val="252B50">
              <a:alpha val="92000"/>
            </a:srgbClr>
          </a:solidFill>
          <a:ln w="12700">
            <a:solidFill>
              <a:srgbClr val="57549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9104" y="2359152"/>
            <a:ext cx="365760" cy="36576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3974592" y="2359152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B8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SWARM</a:t>
            </a:r>
            <a:endParaRPr lang="en-US" sz="1500" dirty="0"/>
          </a:p>
        </p:txBody>
      </p:sp>
      <p:sp>
        <p:nvSpPr>
          <p:cNvPr id="15" name="Text 11"/>
          <p:cNvSpPr txBox="1"/>
          <p:nvPr/>
        </p:nvSpPr>
        <p:spPr>
          <a:xfrm>
            <a:off x="3499104" y="2880360"/>
            <a:ext cx="233172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Extractor: CH₄, H₂S, LPG, P&amp;ID nodes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Physicist: energy &amp; blast overpressure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Auditor: LOPA / Bow-Tie barriers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Statutory: DGMS Rule 43 check</a:t>
            </a:r>
            <a:endParaRPr lang="en-US" sz="1500" dirty="0"/>
          </a:p>
        </p:txBody>
      </p:sp>
      <p:sp>
        <p:nvSpPr>
          <p:cNvPr id="16" name="Shape 12"/>
          <p:cNvSpPr/>
          <p:nvPr/>
        </p:nvSpPr>
        <p:spPr>
          <a:xfrm>
            <a:off x="7176516" y="1371600"/>
            <a:ext cx="694944" cy="611551"/>
          </a:xfrm>
          <a:prstGeom prst="hexagon">
            <a:avLst/>
          </a:prstGeom>
          <a:solidFill>
            <a:srgbClr val="FF6FB5">
              <a:alpha val="65000"/>
            </a:srgbClr>
          </a:solidFill>
          <a:ln w="19050">
            <a:solidFill>
              <a:srgbClr val="FF6FB5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7176516" y="1371600"/>
            <a:ext cx="694944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700" dirty="0"/>
          </a:p>
        </p:txBody>
      </p:sp>
      <p:sp>
        <p:nvSpPr>
          <p:cNvPr id="18" name="Shape 14"/>
          <p:cNvSpPr/>
          <p:nvPr/>
        </p:nvSpPr>
        <p:spPr>
          <a:xfrm>
            <a:off x="6175248" y="2194560"/>
            <a:ext cx="2697480" cy="3017520"/>
          </a:xfrm>
          <a:prstGeom prst="roundRect">
            <a:avLst>
              <a:gd name="adj" fmla="val 4746"/>
            </a:avLst>
          </a:prstGeom>
          <a:solidFill>
            <a:srgbClr val="332746">
              <a:alpha val="92000"/>
            </a:srgbClr>
          </a:solidFill>
          <a:ln w="12700">
            <a:solidFill>
              <a:srgbClr val="894575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8128" y="2359152"/>
            <a:ext cx="365760" cy="365760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6833616" y="2359152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6F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3D DIGITAL TWIN</a:t>
            </a:r>
            <a:endParaRPr lang="en-US" sz="1500" dirty="0"/>
          </a:p>
        </p:txBody>
      </p:sp>
      <p:sp>
        <p:nvSpPr>
          <p:cNvPr id="21" name="Text 16"/>
          <p:cNvSpPr txBox="1"/>
          <p:nvPr/>
        </p:nvSpPr>
        <p:spPr>
          <a:xfrm>
            <a:off x="6358128" y="2880360"/>
            <a:ext cx="233172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Three.js / WebGL spatial engine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kPa lethal blast sphere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 0/1/2 ATEX hazard heatmap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Pump P-102, Horton Sphere nodes</a:t>
            </a:r>
            <a:endParaRPr lang="en-US" sz="1500" dirty="0"/>
          </a:p>
        </p:txBody>
      </p:sp>
      <p:sp>
        <p:nvSpPr>
          <p:cNvPr id="22" name="Shape 17"/>
          <p:cNvSpPr/>
          <p:nvPr/>
        </p:nvSpPr>
        <p:spPr>
          <a:xfrm>
            <a:off x="10035540" y="1371600"/>
            <a:ext cx="694944" cy="611551"/>
          </a:xfrm>
          <a:prstGeom prst="hexagon">
            <a:avLst/>
          </a:prstGeom>
          <a:solidFill>
            <a:srgbClr val="FFB020">
              <a:alpha val="65000"/>
            </a:srgbClr>
          </a:solidFill>
          <a:ln w="19050">
            <a:solidFill>
              <a:srgbClr val="FFB020"/>
            </a:solidFill>
            <a:prstDash val="solid"/>
          </a:ln>
        </p:spPr>
      </p:sp>
      <p:sp>
        <p:nvSpPr>
          <p:cNvPr id="23" name="Text 18"/>
          <p:cNvSpPr txBox="1"/>
          <p:nvPr/>
        </p:nvSpPr>
        <p:spPr>
          <a:xfrm>
            <a:off x="10035540" y="1371600"/>
            <a:ext cx="694944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700" dirty="0"/>
          </a:p>
        </p:txBody>
      </p:sp>
      <p:sp>
        <p:nvSpPr>
          <p:cNvPr id="24" name="Shape 19"/>
          <p:cNvSpPr/>
          <p:nvPr/>
        </p:nvSpPr>
        <p:spPr>
          <a:xfrm>
            <a:off x="9034272" y="2194560"/>
            <a:ext cx="2697480" cy="3017520"/>
          </a:xfrm>
          <a:prstGeom prst="roundRect">
            <a:avLst>
              <a:gd name="adj" fmla="val 4746"/>
            </a:avLst>
          </a:prstGeom>
          <a:solidFill>
            <a:srgbClr val="333031">
              <a:alpha val="92000"/>
            </a:srgbClr>
          </a:solidFill>
          <a:ln w="12700">
            <a:solidFill>
              <a:srgbClr val="89662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17152" y="2359152"/>
            <a:ext cx="365760" cy="365760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9692640" y="2359152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B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 &amp; AUDIT</a:t>
            </a:r>
            <a:endParaRPr lang="en-US" sz="1500" dirty="0"/>
          </a:p>
        </p:txBody>
      </p:sp>
      <p:sp>
        <p:nvSpPr>
          <p:cNvPr id="27" name="Text 21"/>
          <p:cNvSpPr txBox="1"/>
          <p:nvPr/>
        </p:nvSpPr>
        <p:spPr>
          <a:xfrm>
            <a:off x="9217152" y="2880360"/>
            <a:ext cx="233172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1-click Stop-Work notice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Dispatch to Concerned Safety Official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Tamper-proof cryptographic audit trail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Statutory PDF export in 1 click</a:t>
            </a:r>
            <a:endParaRPr lang="en-US" sz="1500" dirty="0"/>
          </a:p>
        </p:txBody>
      </p:sp>
      <p:sp>
        <p:nvSpPr>
          <p:cNvPr id="28" name="Shape 22"/>
          <p:cNvSpPr/>
          <p:nvPr/>
        </p:nvSpPr>
        <p:spPr>
          <a:xfrm>
            <a:off x="457200" y="5394960"/>
            <a:ext cx="11274552" cy="914400"/>
          </a:xfrm>
          <a:prstGeom prst="roundRect">
            <a:avLst>
              <a:gd name="adj" fmla="val 14000"/>
            </a:avLst>
          </a:prstGeom>
          <a:solidFill>
            <a:srgbClr val="121B34"/>
          </a:solidFill>
          <a:ln w="12700">
            <a:solidFill>
              <a:srgbClr val="2A3A66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9" name="Text 23"/>
          <p:cNvSpPr txBox="1"/>
          <p:nvPr/>
        </p:nvSpPr>
        <p:spPr>
          <a:xfrm>
            <a:off x="640080" y="546811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TECHNOLOGY STACK</a:t>
            </a:r>
            <a:endParaRPr lang="en-US" sz="1200" dirty="0"/>
          </a:p>
        </p:txBody>
      </p:sp>
      <p:sp>
        <p:nvSpPr>
          <p:cNvPr id="30" name="Shape 24"/>
          <p:cNvSpPr/>
          <p:nvPr/>
        </p:nvSpPr>
        <p:spPr>
          <a:xfrm>
            <a:off x="640080" y="5779008"/>
            <a:ext cx="1481328" cy="365760"/>
          </a:xfrm>
          <a:prstGeom prst="roundRect">
            <a:avLst>
              <a:gd name="adj" fmla="val 50000"/>
            </a:avLst>
          </a:prstGeom>
          <a:solidFill>
            <a:srgbClr val="22D3EE">
              <a:alpha val="18000"/>
            </a:srgbClr>
          </a:solidFill>
          <a:ln w="15875">
            <a:solidFill>
              <a:srgbClr val="22D3EE"/>
            </a:solidFill>
            <a:prstDash val="solid"/>
          </a:ln>
        </p:spPr>
      </p:sp>
      <p:sp>
        <p:nvSpPr>
          <p:cNvPr id="31" name="Text 25"/>
          <p:cNvSpPr txBox="1"/>
          <p:nvPr/>
        </p:nvSpPr>
        <p:spPr>
          <a:xfrm>
            <a:off x="640080" y="5779008"/>
            <a:ext cx="1481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Next.js 16 • React 19</a:t>
            </a:r>
            <a:endParaRPr lang="en-US" sz="1100" dirty="0"/>
          </a:p>
        </p:txBody>
      </p:sp>
      <p:sp>
        <p:nvSpPr>
          <p:cNvPr id="32" name="Shape 26"/>
          <p:cNvSpPr/>
          <p:nvPr/>
        </p:nvSpPr>
        <p:spPr>
          <a:xfrm>
            <a:off x="2212848" y="5779008"/>
            <a:ext cx="1481328" cy="365760"/>
          </a:xfrm>
          <a:prstGeom prst="roundRect">
            <a:avLst>
              <a:gd name="adj" fmla="val 50000"/>
            </a:avLst>
          </a:prstGeom>
          <a:solidFill>
            <a:srgbClr val="9B8CFF">
              <a:alpha val="18000"/>
            </a:srgbClr>
          </a:solidFill>
          <a:ln w="15875">
            <a:solidFill>
              <a:srgbClr val="9B8CFF"/>
            </a:solidFill>
            <a:prstDash val="solid"/>
          </a:ln>
        </p:spPr>
      </p:sp>
      <p:sp>
        <p:nvSpPr>
          <p:cNvPr id="33" name="Text 27"/>
          <p:cNvSpPr txBox="1"/>
          <p:nvPr/>
        </p:nvSpPr>
        <p:spPr>
          <a:xfrm>
            <a:off x="2212848" y="5779008"/>
            <a:ext cx="1481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Three.js / WebGL</a:t>
            </a:r>
            <a:endParaRPr lang="en-US" sz="1100" dirty="0"/>
          </a:p>
        </p:txBody>
      </p:sp>
      <p:sp>
        <p:nvSpPr>
          <p:cNvPr id="34" name="Shape 28"/>
          <p:cNvSpPr/>
          <p:nvPr/>
        </p:nvSpPr>
        <p:spPr>
          <a:xfrm>
            <a:off x="3785616" y="5779008"/>
            <a:ext cx="1481328" cy="365760"/>
          </a:xfrm>
          <a:prstGeom prst="roundRect">
            <a:avLst>
              <a:gd name="adj" fmla="val 50000"/>
            </a:avLst>
          </a:prstGeom>
          <a:solidFill>
            <a:srgbClr val="FF6FB5">
              <a:alpha val="18000"/>
            </a:srgbClr>
          </a:solidFill>
          <a:ln w="15875">
            <a:solidFill>
              <a:srgbClr val="FF6FB5"/>
            </a:solidFill>
            <a:prstDash val="solid"/>
          </a:ln>
        </p:spPr>
      </p:sp>
      <p:sp>
        <p:nvSpPr>
          <p:cNvPr id="35" name="Text 29"/>
          <p:cNvSpPr txBox="1"/>
          <p:nvPr/>
        </p:nvSpPr>
        <p:spPr>
          <a:xfrm>
            <a:off x="3785616" y="5779008"/>
            <a:ext cx="1481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FastAPI</a:t>
            </a:r>
            <a:endParaRPr lang="en-US" sz="1100" dirty="0"/>
          </a:p>
        </p:txBody>
      </p:sp>
      <p:sp>
        <p:nvSpPr>
          <p:cNvPr id="36" name="Shape 30"/>
          <p:cNvSpPr/>
          <p:nvPr/>
        </p:nvSpPr>
        <p:spPr>
          <a:xfrm>
            <a:off x="5358384" y="5779008"/>
            <a:ext cx="1481328" cy="365760"/>
          </a:xfrm>
          <a:prstGeom prst="roundRect">
            <a:avLst>
              <a:gd name="adj" fmla="val 50000"/>
            </a:avLst>
          </a:prstGeom>
          <a:solidFill>
            <a:srgbClr val="FFB020">
              <a:alpha val="18000"/>
            </a:srgbClr>
          </a:solidFill>
          <a:ln w="15875">
            <a:solidFill>
              <a:srgbClr val="FFB020"/>
            </a:solidFill>
            <a:prstDash val="solid"/>
          </a:ln>
        </p:spPr>
      </p:sp>
      <p:sp>
        <p:nvSpPr>
          <p:cNvPr id="37" name="Text 31"/>
          <p:cNvSpPr txBox="1"/>
          <p:nvPr/>
        </p:nvSpPr>
        <p:spPr>
          <a:xfrm>
            <a:off x="5358384" y="5779008"/>
            <a:ext cx="1481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LangGraph Swarm</a:t>
            </a:r>
            <a:endParaRPr lang="en-US" sz="1100" dirty="0"/>
          </a:p>
        </p:txBody>
      </p:sp>
      <p:sp>
        <p:nvSpPr>
          <p:cNvPr id="38" name="Shape 32"/>
          <p:cNvSpPr/>
          <p:nvPr/>
        </p:nvSpPr>
        <p:spPr>
          <a:xfrm>
            <a:off x="6931152" y="5779008"/>
            <a:ext cx="1481328" cy="365760"/>
          </a:xfrm>
          <a:prstGeom prst="roundRect">
            <a:avLst>
              <a:gd name="adj" fmla="val 50000"/>
            </a:avLst>
          </a:prstGeom>
          <a:solidFill>
            <a:srgbClr val="2ED47A">
              <a:alpha val="18000"/>
            </a:srgbClr>
          </a:solidFill>
          <a:ln w="15875">
            <a:solidFill>
              <a:srgbClr val="2ED47A"/>
            </a:solidFill>
            <a:prstDash val="solid"/>
          </a:ln>
        </p:spPr>
      </p:sp>
      <p:sp>
        <p:nvSpPr>
          <p:cNvPr id="39" name="Text 33"/>
          <p:cNvSpPr txBox="1"/>
          <p:nvPr/>
        </p:nvSpPr>
        <p:spPr>
          <a:xfrm>
            <a:off x="6931152" y="5779008"/>
            <a:ext cx="1481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PyTorch</a:t>
            </a:r>
            <a:endParaRPr lang="en-US" sz="1100" dirty="0"/>
          </a:p>
        </p:txBody>
      </p:sp>
      <p:sp>
        <p:nvSpPr>
          <p:cNvPr id="40" name="Shape 34"/>
          <p:cNvSpPr/>
          <p:nvPr/>
        </p:nvSpPr>
        <p:spPr>
          <a:xfrm>
            <a:off x="8503920" y="5779008"/>
            <a:ext cx="1481328" cy="365760"/>
          </a:xfrm>
          <a:prstGeom prst="roundRect">
            <a:avLst>
              <a:gd name="adj" fmla="val 50000"/>
            </a:avLst>
          </a:prstGeom>
          <a:solidFill>
            <a:srgbClr val="FF7A1A">
              <a:alpha val="18000"/>
            </a:srgbClr>
          </a:solidFill>
          <a:ln w="15875">
            <a:solidFill>
              <a:srgbClr val="FF7A1A"/>
            </a:solidFill>
            <a:prstDash val="solid"/>
          </a:ln>
        </p:spPr>
      </p:sp>
      <p:sp>
        <p:nvSpPr>
          <p:cNvPr id="41" name="Text 35"/>
          <p:cNvSpPr txBox="1"/>
          <p:nvPr/>
        </p:nvSpPr>
        <p:spPr>
          <a:xfrm>
            <a:off x="8503920" y="5779008"/>
            <a:ext cx="1481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NumPy Physics</a:t>
            </a:r>
            <a:endParaRPr lang="en-US" sz="1100" dirty="0"/>
          </a:p>
        </p:txBody>
      </p:sp>
      <p:sp>
        <p:nvSpPr>
          <p:cNvPr id="42" name="Shape 36"/>
          <p:cNvSpPr/>
          <p:nvPr/>
        </p:nvSpPr>
        <p:spPr>
          <a:xfrm>
            <a:off x="10076688" y="5779008"/>
            <a:ext cx="1481328" cy="365760"/>
          </a:xfrm>
          <a:prstGeom prst="roundRect">
            <a:avLst>
              <a:gd name="adj" fmla="val 50000"/>
            </a:avLst>
          </a:prstGeom>
          <a:solidFill>
            <a:srgbClr val="14B8A6">
              <a:alpha val="18000"/>
            </a:srgbClr>
          </a:solidFill>
          <a:ln w="15875">
            <a:solidFill>
              <a:srgbClr val="14B8A6"/>
            </a:solidFill>
            <a:prstDash val="solid"/>
          </a:ln>
        </p:spPr>
      </p:sp>
      <p:sp>
        <p:nvSpPr>
          <p:cNvPr id="43" name="Text 37"/>
          <p:cNvSpPr txBox="1"/>
          <p:nvPr/>
        </p:nvSpPr>
        <p:spPr>
          <a:xfrm>
            <a:off x="10076688" y="5779008"/>
            <a:ext cx="1481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TailwindCSS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FF7A1A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4" type="title" hasCustomPrompt="1"/>
          </p:nvPr>
        </p:nvSpPr>
        <p:spPr>
          <a:xfrm>
            <a:off x="2560320" y="347472"/>
            <a:ext cx="6949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FEASIBILITY AND VIABILITY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371600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D4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 FEASIBILITY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737360"/>
            <a:ext cx="2514600" cy="1188720"/>
          </a:xfrm>
          <a:prstGeom prst="roundRect">
            <a:avLst>
              <a:gd name="adj" fmla="val 10769"/>
            </a:avLst>
          </a:prstGeom>
          <a:solidFill>
            <a:srgbClr val="16353E">
              <a:alpha val="92000"/>
            </a:srgbClr>
          </a:solidFill>
          <a:ln w="12700">
            <a:solidFill>
              <a:srgbClr val="207857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594360" y="1801368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ED47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&lt; 1.2 s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233172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9B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prototype: live twin + multi-agent analysis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154680" y="1737360"/>
            <a:ext cx="2514600" cy="1188720"/>
          </a:xfrm>
          <a:prstGeom prst="roundRect">
            <a:avLst>
              <a:gd name="adj" fmla="val 10769"/>
            </a:avLst>
          </a:prstGeom>
          <a:solidFill>
            <a:srgbClr val="123144">
              <a:alpha val="92000"/>
            </a:srgbClr>
          </a:solidFill>
          <a:ln w="12700">
            <a:solidFill>
              <a:srgbClr val="136A6D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3291840" y="1801368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B8A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100%</a:t>
            </a:r>
            <a:endParaRPr lang="en-US" sz="3000" dirty="0"/>
          </a:p>
        </p:txBody>
      </p:sp>
      <p:sp>
        <p:nvSpPr>
          <p:cNvPr id="9" name="Text 7"/>
          <p:cNvSpPr txBox="1"/>
          <p:nvPr/>
        </p:nvSpPr>
        <p:spPr>
          <a:xfrm>
            <a:off x="3291840" y="233172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9B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on offshore IPCs (Ollama / Llama 3)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3154680"/>
            <a:ext cx="5212080" cy="1371600"/>
          </a:xfrm>
          <a:prstGeom prst="roundRect">
            <a:avLst>
              <a:gd name="adj" fmla="val 9333"/>
            </a:avLst>
          </a:prstGeom>
          <a:solidFill>
            <a:srgbClr val="14354E">
              <a:alpha val="92000"/>
            </a:srgbClr>
          </a:solidFill>
          <a:ln w="12700">
            <a:solidFill>
              <a:srgbClr val="1A7791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40080" y="3337560"/>
            <a:ext cx="502920" cy="502920"/>
          </a:xfrm>
          <a:prstGeom prst="ellipse">
            <a:avLst/>
          </a:prstGeom>
          <a:solidFill>
            <a:srgbClr val="22D3EE">
              <a:alpha val="15000"/>
            </a:srgbClr>
          </a:solidFill>
          <a:ln w="15875">
            <a:solidFill>
              <a:srgbClr val="22D3EE"/>
            </a:solidFill>
            <a:prstDash val="solid"/>
          </a:ln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096" y="3465576"/>
            <a:ext cx="246888" cy="246888"/>
          </a:xfrm>
          <a:prstGeom prst="rect">
            <a:avLst/>
          </a:prstGeom>
        </p:spPr>
      </p:pic>
      <p:sp>
        <p:nvSpPr>
          <p:cNvPr id="13" name="Text 10"/>
          <p:cNvSpPr txBox="1"/>
          <p:nvPr/>
        </p:nvSpPr>
        <p:spPr>
          <a:xfrm>
            <a:off x="1325880" y="333756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Zero-friction integration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1325880" y="3886200"/>
            <a:ext cx="4206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9B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Adapters for Honeywell Experion, Yokogawa CENTUM, SAP EHS &amp; IBM Maximo.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457200" y="4709160"/>
            <a:ext cx="5212080" cy="1371600"/>
          </a:xfrm>
          <a:prstGeom prst="roundRect">
            <a:avLst>
              <a:gd name="adj" fmla="val 9333"/>
            </a:avLst>
          </a:prstGeom>
          <a:solidFill>
            <a:srgbClr val="333031">
              <a:alpha val="92000"/>
            </a:srgbClr>
          </a:solidFill>
          <a:ln w="12700">
            <a:solidFill>
              <a:srgbClr val="89662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40080" y="4892040"/>
            <a:ext cx="502920" cy="502920"/>
          </a:xfrm>
          <a:prstGeom prst="ellipse">
            <a:avLst/>
          </a:prstGeom>
          <a:solidFill>
            <a:srgbClr val="FFB020">
              <a:alpha val="15000"/>
            </a:srgbClr>
          </a:solidFill>
          <a:ln w="15875">
            <a:solidFill>
              <a:srgbClr val="FFB020"/>
            </a:solidFill>
            <a:prstDash val="solid"/>
          </a:ln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096" y="5020056"/>
            <a:ext cx="246888" cy="246888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1325880" y="489204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Statutory alignment</a:t>
            </a:r>
            <a:endParaRPr lang="en-US" sz="1500" dirty="0"/>
          </a:p>
        </p:txBody>
      </p:sp>
      <p:sp>
        <p:nvSpPr>
          <p:cNvPr id="19" name="Text 15"/>
          <p:cNvSpPr txBox="1"/>
          <p:nvPr/>
        </p:nvSpPr>
        <p:spPr>
          <a:xfrm>
            <a:off x="1325880" y="5440680"/>
            <a:ext cx="4206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9B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Pre-calibrated to DGMS OMR 2019 and OISD standards: no regulatory friction.</a:t>
            </a:r>
            <a:endParaRPr lang="en-US" sz="1400" dirty="0"/>
          </a:p>
        </p:txBody>
      </p:sp>
      <p:sp>
        <p:nvSpPr>
          <p:cNvPr id="20" name="Text 16"/>
          <p:cNvSpPr txBox="1"/>
          <p:nvPr/>
        </p:nvSpPr>
        <p:spPr>
          <a:xfrm>
            <a:off x="5943600" y="1371600"/>
            <a:ext cx="5760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4D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POTENTIAL CHALLENGES  →  MITIGATIONS</a:t>
            </a:r>
            <a:endParaRPr lang="en-US" sz="1200" dirty="0"/>
          </a:p>
        </p:txBody>
      </p:sp>
      <p:sp>
        <p:nvSpPr>
          <p:cNvPr id="21" name="Shape 17"/>
          <p:cNvSpPr/>
          <p:nvPr/>
        </p:nvSpPr>
        <p:spPr>
          <a:xfrm>
            <a:off x="5943600" y="1737360"/>
            <a:ext cx="5788152" cy="1325880"/>
          </a:xfrm>
          <a:prstGeom prst="roundRect">
            <a:avLst>
              <a:gd name="adj" fmla="val 9655"/>
            </a:avLst>
          </a:prstGeom>
          <a:solidFill>
            <a:srgbClr val="33223A">
              <a:alpha val="92000"/>
            </a:srgbClr>
          </a:solidFill>
          <a:ln w="12700">
            <a:solidFill>
              <a:srgbClr val="893449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6108192" y="1920240"/>
            <a:ext cx="548640" cy="482803"/>
          </a:xfrm>
          <a:prstGeom prst="hexagon">
            <a:avLst/>
          </a:prstGeom>
          <a:solidFill>
            <a:srgbClr val="FF4D5E">
              <a:alpha val="40000"/>
            </a:srgbClr>
          </a:solidFill>
          <a:ln w="19050">
            <a:solidFill>
              <a:srgbClr val="FF4D5E"/>
            </a:solidFill>
            <a:prstDash val="solid"/>
          </a:ln>
        </p:spPr>
      </p:sp>
      <p:sp>
        <p:nvSpPr>
          <p:cNvPr id="23" name="Text 19"/>
          <p:cNvSpPr txBox="1"/>
          <p:nvPr/>
        </p:nvSpPr>
        <p:spPr>
          <a:xfrm>
            <a:off x="6108192" y="1920240"/>
            <a:ext cx="54864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00" dirty="0"/>
          </a:p>
        </p:txBody>
      </p:sp>
      <p:sp>
        <p:nvSpPr>
          <p:cNvPr id="24" name="Text 20"/>
          <p:cNvSpPr txBox="1"/>
          <p:nvPr/>
        </p:nvSpPr>
        <p:spPr>
          <a:xfrm>
            <a:off x="6858000" y="1892808"/>
            <a:ext cx="4709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8A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Noisy / incomplete field text</a:t>
            </a:r>
            <a:endParaRPr lang="en-US" sz="1500" dirty="0"/>
          </a:p>
        </p:txBody>
      </p:sp>
      <p:sp>
        <p:nvSpPr>
          <p:cNvPr id="25" name="Text 21"/>
          <p:cNvSpPr txBox="1"/>
          <p:nvPr/>
        </p:nvSpPr>
        <p:spPr>
          <a:xfrm>
            <a:off x="6858000" y="2331720"/>
            <a:ext cx="4709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ED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Multimodal fallback still extracts chemicals, pressures &amp; equipment tags from a one-line report.</a:t>
            </a:r>
            <a:endParaRPr lang="en-US" sz="1200" dirty="0"/>
          </a:p>
        </p:txBody>
      </p:sp>
      <p:sp>
        <p:nvSpPr>
          <p:cNvPr id="26" name="Shape 22"/>
          <p:cNvSpPr/>
          <p:nvPr/>
        </p:nvSpPr>
        <p:spPr>
          <a:xfrm>
            <a:off x="5943600" y="3246120"/>
            <a:ext cx="5788152" cy="1325880"/>
          </a:xfrm>
          <a:prstGeom prst="roundRect">
            <a:avLst>
              <a:gd name="adj" fmla="val 9655"/>
            </a:avLst>
          </a:prstGeom>
          <a:solidFill>
            <a:srgbClr val="33223A">
              <a:alpha val="92000"/>
            </a:srgbClr>
          </a:solidFill>
          <a:ln w="12700">
            <a:solidFill>
              <a:srgbClr val="893449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7" name="Shape 23"/>
          <p:cNvSpPr/>
          <p:nvPr/>
        </p:nvSpPr>
        <p:spPr>
          <a:xfrm>
            <a:off x="6108192" y="3429000"/>
            <a:ext cx="548640" cy="482803"/>
          </a:xfrm>
          <a:prstGeom prst="hexagon">
            <a:avLst/>
          </a:prstGeom>
          <a:solidFill>
            <a:srgbClr val="FF4D5E">
              <a:alpha val="40000"/>
            </a:srgbClr>
          </a:solidFill>
          <a:ln w="19050">
            <a:solidFill>
              <a:srgbClr val="FF4D5E"/>
            </a:solidFill>
            <a:prstDash val="solid"/>
          </a:ln>
        </p:spPr>
      </p:sp>
      <p:sp>
        <p:nvSpPr>
          <p:cNvPr id="28" name="Text 24"/>
          <p:cNvSpPr txBox="1"/>
          <p:nvPr/>
        </p:nvSpPr>
        <p:spPr>
          <a:xfrm>
            <a:off x="6108192" y="3429000"/>
            <a:ext cx="54864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400" dirty="0"/>
          </a:p>
        </p:txBody>
      </p:sp>
      <p:sp>
        <p:nvSpPr>
          <p:cNvPr id="29" name="Text 25"/>
          <p:cNvSpPr txBox="1"/>
          <p:nvPr/>
        </p:nvSpPr>
        <p:spPr>
          <a:xfrm>
            <a:off x="6858000" y="3401568"/>
            <a:ext cx="4709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8A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Operator alert fatigue</a:t>
            </a:r>
            <a:endParaRPr lang="en-US" sz="1500" dirty="0"/>
          </a:p>
        </p:txBody>
      </p:sp>
      <p:sp>
        <p:nvSpPr>
          <p:cNvPr id="30" name="Text 26"/>
          <p:cNvSpPr txBox="1"/>
          <p:nvPr/>
        </p:nvSpPr>
        <p:spPr>
          <a:xfrm>
            <a:off x="6858000" y="3840480"/>
            <a:ext cx="4709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ED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SIF-Precursor Energy Gate mutes trivial events; alarms fire only above safe blast-energy limits.</a:t>
            </a:r>
            <a:endParaRPr lang="en-US" sz="1200" dirty="0"/>
          </a:p>
        </p:txBody>
      </p:sp>
      <p:sp>
        <p:nvSpPr>
          <p:cNvPr id="31" name="Shape 27"/>
          <p:cNvSpPr/>
          <p:nvPr/>
        </p:nvSpPr>
        <p:spPr>
          <a:xfrm>
            <a:off x="5943600" y="4754880"/>
            <a:ext cx="5788152" cy="1325880"/>
          </a:xfrm>
          <a:prstGeom prst="roundRect">
            <a:avLst>
              <a:gd name="adj" fmla="val 9655"/>
            </a:avLst>
          </a:prstGeom>
          <a:solidFill>
            <a:srgbClr val="33223A">
              <a:alpha val="92000"/>
            </a:srgbClr>
          </a:solidFill>
          <a:ln w="12700">
            <a:solidFill>
              <a:srgbClr val="893449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32" name="Shape 28"/>
          <p:cNvSpPr/>
          <p:nvPr/>
        </p:nvSpPr>
        <p:spPr>
          <a:xfrm>
            <a:off x="6108192" y="4937760"/>
            <a:ext cx="548640" cy="482803"/>
          </a:xfrm>
          <a:prstGeom prst="hexagon">
            <a:avLst/>
          </a:prstGeom>
          <a:solidFill>
            <a:srgbClr val="FF4D5E">
              <a:alpha val="40000"/>
            </a:srgbClr>
          </a:solidFill>
          <a:ln w="19050">
            <a:solidFill>
              <a:srgbClr val="FF4D5E"/>
            </a:solidFill>
            <a:prstDash val="solid"/>
          </a:ln>
        </p:spPr>
      </p:sp>
      <p:sp>
        <p:nvSpPr>
          <p:cNvPr id="33" name="Text 29"/>
          <p:cNvSpPr txBox="1"/>
          <p:nvPr/>
        </p:nvSpPr>
        <p:spPr>
          <a:xfrm>
            <a:off x="6108192" y="4937760"/>
            <a:ext cx="54864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400" dirty="0"/>
          </a:p>
        </p:txBody>
      </p:sp>
      <p:sp>
        <p:nvSpPr>
          <p:cNvPr id="34" name="Text 30"/>
          <p:cNvSpPr txBox="1"/>
          <p:nvPr/>
        </p:nvSpPr>
        <p:spPr>
          <a:xfrm>
            <a:off x="6858000" y="4910328"/>
            <a:ext cx="4709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8A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Marine environment &amp; link drops</a:t>
            </a:r>
            <a:endParaRPr lang="en-US" sz="1500" dirty="0"/>
          </a:p>
        </p:txBody>
      </p:sp>
      <p:sp>
        <p:nvSpPr>
          <p:cNvPr id="35" name="Text 31"/>
          <p:cNvSpPr txBox="1"/>
          <p:nvPr/>
        </p:nvSpPr>
        <p:spPr>
          <a:xfrm>
            <a:off x="6858000" y="5349240"/>
            <a:ext cx="4709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ED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Edge-first Docker deployment with async queuing; auto-syncs when connectivity returns.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FF7A1A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4" type="title" hasCustomPrompt="1"/>
          </p:nvPr>
        </p:nvSpPr>
        <p:spPr>
          <a:xfrm>
            <a:off x="2560320" y="347472"/>
            <a:ext cx="6949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IMPACT AND BENEFITS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463040"/>
            <a:ext cx="3611880" cy="3886200"/>
          </a:xfrm>
          <a:prstGeom prst="roundRect">
            <a:avLst>
              <a:gd name="adj" fmla="val 3544"/>
            </a:avLst>
          </a:prstGeom>
          <a:solidFill>
            <a:srgbClr val="14354E">
              <a:alpha val="92000"/>
            </a:srgbClr>
          </a:solidFill>
          <a:ln w="12700">
            <a:solidFill>
              <a:srgbClr val="1A7791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85800" y="1645920"/>
            <a:ext cx="548640" cy="548640"/>
          </a:xfrm>
          <a:prstGeom prst="ellipse">
            <a:avLst/>
          </a:prstGeom>
          <a:solidFill>
            <a:srgbClr val="22D3EE">
              <a:alpha val="15000"/>
            </a:srgbClr>
          </a:solidFill>
          <a:ln w="15875">
            <a:solidFill>
              <a:srgbClr val="22D3EE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783080"/>
            <a:ext cx="274320" cy="2743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371600" y="164592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&amp; WORKER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233172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22D3E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150,000+</a:t>
            </a:r>
            <a:endParaRPr lang="en-US" sz="4400" dirty="0"/>
          </a:p>
        </p:txBody>
      </p:sp>
      <p:sp>
        <p:nvSpPr>
          <p:cNvPr id="8" name="Text 5"/>
          <p:cNvSpPr txBox="1"/>
          <p:nvPr/>
        </p:nvSpPr>
        <p:spPr>
          <a:xfrm>
            <a:off x="685800" y="31089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frontline crew protected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685800" y="3611880"/>
            <a:ext cx="31546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A9B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Multilingual voice reports: Hindi, Assamese, English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A9B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Catches latent energy before workers enter explosive zones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4288536" y="1463040"/>
            <a:ext cx="3611880" cy="3886200"/>
          </a:xfrm>
          <a:prstGeom prst="roundRect">
            <a:avLst>
              <a:gd name="adj" fmla="val 3544"/>
            </a:avLst>
          </a:prstGeom>
          <a:solidFill>
            <a:srgbClr val="332830">
              <a:alpha val="92000"/>
            </a:srgbClr>
          </a:solidFill>
          <a:ln w="12700">
            <a:solidFill>
              <a:srgbClr val="894B27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517136" y="1645920"/>
            <a:ext cx="548640" cy="548640"/>
          </a:xfrm>
          <a:prstGeom prst="ellipse">
            <a:avLst/>
          </a:prstGeom>
          <a:solidFill>
            <a:srgbClr val="FF7A1A">
              <a:alpha val="15000"/>
            </a:srgbClr>
          </a:solidFill>
          <a:ln w="15875">
            <a:solidFill>
              <a:srgbClr val="FF7A1A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4296" y="1783080"/>
            <a:ext cx="274320" cy="27432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5202936" y="164592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FF7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ECONOMIC &amp; OPERATIONAL</a:t>
            </a:r>
            <a:endParaRPr lang="en-US" sz="1200" dirty="0"/>
          </a:p>
        </p:txBody>
      </p:sp>
      <p:sp>
        <p:nvSpPr>
          <p:cNvPr id="14" name="Text 10"/>
          <p:cNvSpPr txBox="1"/>
          <p:nvPr/>
        </p:nvSpPr>
        <p:spPr>
          <a:xfrm>
            <a:off x="4517136" y="233172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7A1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95%</a:t>
            </a:r>
            <a:endParaRPr lang="en-US" sz="4400" dirty="0"/>
          </a:p>
        </p:txBody>
      </p:sp>
      <p:sp>
        <p:nvSpPr>
          <p:cNvPr id="15" name="Text 11"/>
          <p:cNvSpPr txBox="1"/>
          <p:nvPr/>
        </p:nvSpPr>
        <p:spPr>
          <a:xfrm>
            <a:off x="4517136" y="31089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faster triage: 72 h → 90 s</a:t>
            </a:r>
            <a:endParaRPr lang="en-US" sz="1400" dirty="0"/>
          </a:p>
        </p:txBody>
      </p:sp>
      <p:sp>
        <p:nvSpPr>
          <p:cNvPr id="16" name="Text 12"/>
          <p:cNvSpPr txBox="1"/>
          <p:nvPr/>
        </p:nvSpPr>
        <p:spPr>
          <a:xfrm>
            <a:off x="4517136" y="3611880"/>
            <a:ext cx="31546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A9B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₹50+ Cr averted per prevented blowout or VCE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A9B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auditable Rule 43 compliance: zero penalties</a:t>
            </a:r>
            <a:endParaRPr lang="en-US" sz="1500" dirty="0"/>
          </a:p>
        </p:txBody>
      </p:sp>
      <p:sp>
        <p:nvSpPr>
          <p:cNvPr id="17" name="Shape 13"/>
          <p:cNvSpPr/>
          <p:nvPr/>
        </p:nvSpPr>
        <p:spPr>
          <a:xfrm>
            <a:off x="8119872" y="1463040"/>
            <a:ext cx="3611880" cy="3886200"/>
          </a:xfrm>
          <a:prstGeom prst="roundRect">
            <a:avLst>
              <a:gd name="adj" fmla="val 3544"/>
            </a:avLst>
          </a:prstGeom>
          <a:solidFill>
            <a:srgbClr val="16353E">
              <a:alpha val="92000"/>
            </a:srgbClr>
          </a:solidFill>
          <a:ln w="12700">
            <a:solidFill>
              <a:srgbClr val="207857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8348472" y="1645920"/>
            <a:ext cx="548640" cy="548640"/>
          </a:xfrm>
          <a:prstGeom prst="ellipse">
            <a:avLst/>
          </a:prstGeom>
          <a:solidFill>
            <a:srgbClr val="2ED47A">
              <a:alpha val="15000"/>
            </a:srgbClr>
          </a:solidFill>
          <a:ln w="15875">
            <a:solidFill>
              <a:srgbClr val="2ED47A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85632" y="1783080"/>
            <a:ext cx="274320" cy="274320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9034272" y="164592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2ED4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ENVIRONMENTAL &amp; ESG</a:t>
            </a:r>
            <a:endParaRPr lang="en-US" sz="1200" dirty="0"/>
          </a:p>
        </p:txBody>
      </p:sp>
      <p:sp>
        <p:nvSpPr>
          <p:cNvPr id="21" name="Text 16"/>
          <p:cNvSpPr txBox="1"/>
          <p:nvPr/>
        </p:nvSpPr>
        <p:spPr>
          <a:xfrm>
            <a:off x="8348472" y="233172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2ED47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CH₄</a:t>
            </a:r>
            <a:endParaRPr lang="en-US" sz="4400" dirty="0"/>
          </a:p>
        </p:txBody>
      </p:sp>
      <p:sp>
        <p:nvSpPr>
          <p:cNvPr id="22" name="Text 17"/>
          <p:cNvSpPr txBox="1"/>
          <p:nvPr/>
        </p:nvSpPr>
        <p:spPr>
          <a:xfrm>
            <a:off x="8348472" y="31089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fugitive venting stopped at source</a:t>
            </a:r>
            <a:endParaRPr lang="en-US" sz="1400" dirty="0"/>
          </a:p>
        </p:txBody>
      </p:sp>
      <p:sp>
        <p:nvSpPr>
          <p:cNvPr id="23" name="Text 18"/>
          <p:cNvSpPr txBox="1"/>
          <p:nvPr/>
        </p:nvSpPr>
        <p:spPr>
          <a:xfrm>
            <a:off x="8348472" y="3611880"/>
            <a:ext cx="31546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A9B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Prevents offshore crude slicks &amp; coastal damage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A9B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Strengthens OIL's Scope 1 ESG &amp; carbon posture</a:t>
            </a:r>
            <a:endParaRPr lang="en-US" sz="1500" dirty="0"/>
          </a:p>
        </p:txBody>
      </p:sp>
      <p:sp>
        <p:nvSpPr>
          <p:cNvPr id="24" name="Shape 19"/>
          <p:cNvSpPr/>
          <p:nvPr/>
        </p:nvSpPr>
        <p:spPr>
          <a:xfrm>
            <a:off x="457200" y="5532120"/>
            <a:ext cx="11274552" cy="777240"/>
          </a:xfrm>
          <a:prstGeom prst="roundRect">
            <a:avLst>
              <a:gd name="adj" fmla="val 16471"/>
            </a:avLst>
          </a:prstGeom>
          <a:solidFill>
            <a:srgbClr val="121B34"/>
          </a:solidFill>
          <a:ln w="12700">
            <a:solidFill>
              <a:srgbClr val="2A3A66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5" name="Text 20"/>
          <p:cNvSpPr txBox="1"/>
          <p:nvPr/>
        </p:nvSpPr>
        <p:spPr>
          <a:xfrm>
            <a:off x="640080" y="5532120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FFB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</a:t>
            </a:r>
            <a:endParaRPr lang="en-US" sz="1100" dirty="0"/>
          </a:p>
          <a:p>
            <a:pPr indent="0" marL="0">
              <a:buNone/>
            </a:pPr>
            <a:r>
              <a:rPr lang="en-US" sz="1100" b="1" spc="150" kern="0" dirty="0">
                <a:solidFill>
                  <a:srgbClr val="FFB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BENEFICIARIES</a:t>
            </a:r>
            <a:endParaRPr lang="en-US" sz="1100" dirty="0"/>
          </a:p>
        </p:txBody>
      </p:sp>
      <p:sp>
        <p:nvSpPr>
          <p:cNvPr id="26" name="Shape 21"/>
          <p:cNvSpPr/>
          <p:nvPr/>
        </p:nvSpPr>
        <p:spPr>
          <a:xfrm>
            <a:off x="2286000" y="5669280"/>
            <a:ext cx="3017520" cy="502920"/>
          </a:xfrm>
          <a:prstGeom prst="roundRect">
            <a:avLst>
              <a:gd name="adj" fmla="val 21818"/>
            </a:avLst>
          </a:prstGeom>
          <a:solidFill>
            <a:srgbClr val="22D3EE">
              <a:alpha val="18000"/>
            </a:srgbClr>
          </a:solidFill>
          <a:ln w="15875">
            <a:solidFill>
              <a:srgbClr val="22D3EE"/>
            </a:solidFill>
            <a:prstDash val="solid"/>
          </a:ln>
        </p:spPr>
      </p:sp>
      <p:sp>
        <p:nvSpPr>
          <p:cNvPr id="27" name="Text 22"/>
          <p:cNvSpPr txBox="1"/>
          <p:nvPr/>
        </p:nvSpPr>
        <p:spPr>
          <a:xfrm>
            <a:off x="2377440" y="566928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Frontline offshore technicians &amp; drillers</a:t>
            </a:r>
            <a:endParaRPr lang="en-US" sz="1200" dirty="0"/>
          </a:p>
        </p:txBody>
      </p:sp>
      <p:sp>
        <p:nvSpPr>
          <p:cNvPr id="28" name="Shape 23"/>
          <p:cNvSpPr/>
          <p:nvPr/>
        </p:nvSpPr>
        <p:spPr>
          <a:xfrm>
            <a:off x="5440680" y="5669280"/>
            <a:ext cx="3017520" cy="502920"/>
          </a:xfrm>
          <a:prstGeom prst="roundRect">
            <a:avLst>
              <a:gd name="adj" fmla="val 21818"/>
            </a:avLst>
          </a:prstGeom>
          <a:solidFill>
            <a:srgbClr val="FF6FB5">
              <a:alpha val="18000"/>
            </a:srgbClr>
          </a:solidFill>
          <a:ln w="15875">
            <a:solidFill>
              <a:srgbClr val="FF6FB5"/>
            </a:solidFill>
            <a:prstDash val="solid"/>
          </a:ln>
        </p:spPr>
      </p:sp>
      <p:sp>
        <p:nvSpPr>
          <p:cNvPr id="29" name="Text 24"/>
          <p:cNvSpPr txBox="1"/>
          <p:nvPr/>
        </p:nvSpPr>
        <p:spPr>
          <a:xfrm>
            <a:off x="5532120" y="566928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Statutory safety officers &amp; rig managers</a:t>
            </a:r>
            <a:endParaRPr lang="en-US" sz="1200" dirty="0"/>
          </a:p>
        </p:txBody>
      </p:sp>
      <p:sp>
        <p:nvSpPr>
          <p:cNvPr id="30" name="Shape 25"/>
          <p:cNvSpPr/>
          <p:nvPr/>
        </p:nvSpPr>
        <p:spPr>
          <a:xfrm>
            <a:off x="8595360" y="5669280"/>
            <a:ext cx="3017520" cy="502920"/>
          </a:xfrm>
          <a:prstGeom prst="roundRect">
            <a:avLst>
              <a:gd name="adj" fmla="val 21818"/>
            </a:avLst>
          </a:prstGeom>
          <a:solidFill>
            <a:srgbClr val="FFB020">
              <a:alpha val="18000"/>
            </a:srgbClr>
          </a:solidFill>
          <a:ln w="15875">
            <a:solidFill>
              <a:srgbClr val="FFB020"/>
            </a:solidFill>
            <a:prstDash val="solid"/>
          </a:ln>
        </p:spPr>
      </p:sp>
      <p:sp>
        <p:nvSpPr>
          <p:cNvPr id="31" name="Text 26"/>
          <p:cNvSpPr txBox="1"/>
          <p:nvPr/>
        </p:nvSpPr>
        <p:spPr>
          <a:xfrm>
            <a:off x="8686800" y="566928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Public-sector energy majors: OIL, ONGC, GAIL, IOCL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FF7A1A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4" type="title" hasCustomPrompt="1"/>
          </p:nvPr>
        </p:nvSpPr>
        <p:spPr>
          <a:xfrm>
            <a:off x="2560320" y="347472"/>
            <a:ext cx="6949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RESEARCH AND REFERENCES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463040"/>
            <a:ext cx="5532120" cy="2286000"/>
          </a:xfrm>
          <a:prstGeom prst="roundRect">
            <a:avLst>
              <a:gd name="adj" fmla="val 5600"/>
            </a:avLst>
          </a:prstGeom>
          <a:solidFill>
            <a:srgbClr val="333031">
              <a:alpha val="92000"/>
            </a:srgbClr>
          </a:solidFill>
          <a:ln w="12700">
            <a:solidFill>
              <a:srgbClr val="89662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58368" y="1627632"/>
            <a:ext cx="502920" cy="502920"/>
          </a:xfrm>
          <a:prstGeom prst="ellipse">
            <a:avLst/>
          </a:prstGeom>
          <a:solidFill>
            <a:srgbClr val="FFB020">
              <a:alpha val="15000"/>
            </a:srgbClr>
          </a:solidFill>
          <a:ln w="15875">
            <a:solidFill>
              <a:srgbClr val="FFB020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" y="1755648"/>
            <a:ext cx="246888" cy="24688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325880" y="1627632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FB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STATUTORY REGULATIONS &amp; STANDARDS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2286000"/>
            <a:ext cx="5029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DGMS OMR 2019: Rule 43, Stop-Work Authority</a:t>
            </a:r>
            <a:endParaRPr lang="en-US" sz="16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OISD-GDN-169 &amp; OISD-STD-105: hazard ID, risk assessment, work permits</a:t>
            </a:r>
            <a:endParaRPr lang="en-US" sz="16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 45001:2018: OH&amp;S management systems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6199632" y="1463040"/>
            <a:ext cx="5532120" cy="2286000"/>
          </a:xfrm>
          <a:prstGeom prst="roundRect">
            <a:avLst>
              <a:gd name="adj" fmla="val 5600"/>
            </a:avLst>
          </a:prstGeom>
          <a:solidFill>
            <a:srgbClr val="14354E">
              <a:alpha val="92000"/>
            </a:srgbClr>
          </a:solidFill>
          <a:ln w="12700">
            <a:solidFill>
              <a:srgbClr val="1A7791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6400800" y="1627632"/>
            <a:ext cx="502920" cy="502920"/>
          </a:xfrm>
          <a:prstGeom prst="ellipse">
            <a:avLst/>
          </a:prstGeom>
          <a:solidFill>
            <a:srgbClr val="22D3EE">
              <a:alpha val="15000"/>
            </a:srgbClr>
          </a:solidFill>
          <a:ln w="15875">
            <a:solidFill>
              <a:srgbClr val="22D3EE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28816" y="1755648"/>
            <a:ext cx="246888" cy="246888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7068312" y="1627632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INDUSTRIAL SAFETY RESEARCH</a:t>
            </a:r>
            <a:endParaRPr lang="en-US" sz="1300" dirty="0"/>
          </a:p>
        </p:txBody>
      </p:sp>
      <p:sp>
        <p:nvSpPr>
          <p:cNvPr id="12" name="Text 8"/>
          <p:cNvSpPr txBox="1"/>
          <p:nvPr/>
        </p:nvSpPr>
        <p:spPr>
          <a:xfrm>
            <a:off x="6473952" y="2286000"/>
            <a:ext cx="5029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Campbell Institute / NSC: The SIF Paradox (2018)</a:t>
            </a:r>
            <a:endParaRPr lang="en-US" sz="16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CCPS (AIChE): LOPA &amp; Bow-Tie models</a:t>
            </a:r>
            <a:endParaRPr lang="en-US" sz="16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Martin &amp; Black (2015): Preventing Serious Injuries and Fatalities</a:t>
            </a:r>
            <a:endParaRPr lang="en-US" sz="1600" dirty="0"/>
          </a:p>
        </p:txBody>
      </p:sp>
      <p:sp>
        <p:nvSpPr>
          <p:cNvPr id="13" name="Shape 9"/>
          <p:cNvSpPr/>
          <p:nvPr/>
        </p:nvSpPr>
        <p:spPr>
          <a:xfrm>
            <a:off x="457200" y="3977640"/>
            <a:ext cx="5532120" cy="2286000"/>
          </a:xfrm>
          <a:prstGeom prst="roundRect">
            <a:avLst>
              <a:gd name="adj" fmla="val 5600"/>
            </a:avLst>
          </a:prstGeom>
          <a:solidFill>
            <a:srgbClr val="332830">
              <a:alpha val="92000"/>
            </a:srgbClr>
          </a:solidFill>
          <a:ln w="12700">
            <a:solidFill>
              <a:srgbClr val="894B27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658368" y="4142232"/>
            <a:ext cx="502920" cy="502920"/>
          </a:xfrm>
          <a:prstGeom prst="ellipse">
            <a:avLst/>
          </a:prstGeom>
          <a:solidFill>
            <a:srgbClr val="FF7A1A">
              <a:alpha val="15000"/>
            </a:srgbClr>
          </a:solidFill>
          <a:ln w="15875">
            <a:solidFill>
              <a:srgbClr val="FF7A1A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" y="4270248"/>
            <a:ext cx="246888" cy="246888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325880" y="4142232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F7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BLAST THERMODYNAMICS &amp; SCALING</a:t>
            </a:r>
            <a:endParaRPr lang="en-US" sz="1300" dirty="0"/>
          </a:p>
        </p:txBody>
      </p:sp>
      <p:sp>
        <p:nvSpPr>
          <p:cNvPr id="17" name="Text 12"/>
          <p:cNvSpPr txBox="1"/>
          <p:nvPr/>
        </p:nvSpPr>
        <p:spPr>
          <a:xfrm>
            <a:off x="731520" y="4800600"/>
            <a:ext cx="5029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Hopkinson-Cranz law: Z = R / E^(1/3) for vapor explosions</a:t>
            </a:r>
            <a:endParaRPr lang="en-US" sz="16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Baker-Strehlow-Tang model: VCE flame speed &amp; shock progression</a:t>
            </a:r>
            <a:endParaRPr lang="en-US" sz="1600" dirty="0"/>
          </a:p>
        </p:txBody>
      </p:sp>
      <p:sp>
        <p:nvSpPr>
          <p:cNvPr id="18" name="Shape 13"/>
          <p:cNvSpPr/>
          <p:nvPr/>
        </p:nvSpPr>
        <p:spPr>
          <a:xfrm>
            <a:off x="6199632" y="3977640"/>
            <a:ext cx="5532120" cy="2286000"/>
          </a:xfrm>
          <a:prstGeom prst="roundRect">
            <a:avLst>
              <a:gd name="adj" fmla="val 5600"/>
            </a:avLst>
          </a:prstGeom>
          <a:solidFill>
            <a:srgbClr val="332746">
              <a:alpha val="92000"/>
            </a:srgbClr>
          </a:solidFill>
          <a:ln w="12700">
            <a:solidFill>
              <a:srgbClr val="894575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6400800" y="4142232"/>
            <a:ext cx="502920" cy="502920"/>
          </a:xfrm>
          <a:prstGeom prst="ellipse">
            <a:avLst/>
          </a:prstGeom>
          <a:solidFill>
            <a:srgbClr val="FF6FB5">
              <a:alpha val="15000"/>
            </a:srgbClr>
          </a:solidFill>
          <a:ln w="15875">
            <a:solidFill>
              <a:srgbClr val="FF6FB5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28816" y="4270248"/>
            <a:ext cx="246888" cy="246888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7068312" y="4142232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F6F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HISTORIC DISASTER INQUIRIES</a:t>
            </a:r>
            <a:endParaRPr lang="en-US" sz="1300" dirty="0"/>
          </a:p>
        </p:txBody>
      </p:sp>
      <p:sp>
        <p:nvSpPr>
          <p:cNvPr id="22" name="Text 16"/>
          <p:cNvSpPr txBox="1"/>
          <p:nvPr/>
        </p:nvSpPr>
        <p:spPr>
          <a:xfrm>
            <a:off x="6473952" y="4800600"/>
            <a:ext cx="5029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Piper Alpha (1988): Lord Cullen Inquiry</a:t>
            </a:r>
            <a:endParaRPr lang="en-US" sz="16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Deepwater Horizon (2010): National Commission Report</a:t>
            </a:r>
            <a:endParaRPr lang="en-US" sz="16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Baghjan Well 5 Blowout (2020): OIL technical inquiry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FF7A1A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Visual Vaults SIF">
  <a:themeElements>
    <a:clrScheme name="Visual Vaults SIF">
      <a:dk1>
        <a:srgbClr val="080C1A"/>
      </a:dk1>
      <a:lt1>
        <a:srgbClr val="FFFFFF"/>
      </a:lt1>
      <a:dk2>
        <a:srgbClr val="121B34"/>
      </a:dk2>
      <a:lt2>
        <a:srgbClr val="DCE6FF"/>
      </a:lt2>
      <a:accent1>
        <a:srgbClr val="FF7A1A"/>
      </a:accent1>
      <a:accent2>
        <a:srgbClr val="22D3EE"/>
      </a:accent2>
      <a:accent3>
        <a:srgbClr val="2ED47A"/>
      </a:accent3>
      <a:accent4>
        <a:srgbClr val="FF4D5E"/>
      </a:accent4>
      <a:accent5>
        <a:srgbClr val="FFB020"/>
      </a:accent5>
      <a:accent6>
        <a:srgbClr val="8B9CC8"/>
      </a:accent6>
      <a:hlink>
        <a:srgbClr val="22D3EE"/>
      </a:hlink>
      <a:folHlink>
        <a:srgbClr val="8B9CC8"/>
      </a:folHlink>
    </a:clrScheme>
    <a:fontScheme name="Visual Vaults SIF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Visual Vaults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SentinelSIF - SIH 2026 Idea Submission</dc:title>
  <dc:subject>PptxGenJS Presentation</dc:subject>
  <dc:creator>Visual Vaults</dc:creator>
  <cp:lastModifiedBy>Visual Vaults</cp:lastModifiedBy>
  <cp:revision>1</cp:revision>
  <dcterms:created xsi:type="dcterms:W3CDTF">2026-10-04T19:35:45Z</dcterms:created>
  <dcterms:modified xsi:type="dcterms:W3CDTF">2026-10-04T19:35:45Z</dcterms:modified>
</cp:coreProperties>
</file>